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aac7d472d467a" /><Relationship Type="http://schemas.openxmlformats.org/officeDocument/2006/relationships/extended-properties" Target="/docProps/app.xml" Id="Rb07f8a53d79444b7" /><Relationship Type="http://schemas.openxmlformats.org/officeDocument/2006/relationships/officeDocument" Target="/ppt/presentation.xml" Id="Re577e6157c224c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167d9d36894b4e"/>
  </p:sldMasterIdLst>
  <p:notesMasterIdLst>
    <p:notesMasterId xmlns:r="http://schemas.openxmlformats.org/officeDocument/2006/relationships" r:id="Re100204d1fe84c8a"/>
  </p:notesMasterIdLst>
  <p:sldIdLst>
    <p:sldId xmlns:r="http://schemas.openxmlformats.org/officeDocument/2006/relationships" id="256" r:id="R855a1ff4862841d5"/>
    <p:sldId xmlns:r="http://schemas.openxmlformats.org/officeDocument/2006/relationships" id="257" r:id="R19e6923bdc7f477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d82a24af9f4cab" /><Relationship Type="http://schemas.openxmlformats.org/officeDocument/2006/relationships/slideMaster" Target="/ppt/slideMasters/slideMaster1.xml" Id="R6b167d9d36894b4e" /><Relationship Type="http://schemas.openxmlformats.org/officeDocument/2006/relationships/notesMaster" Target="/ppt/notesMasters/notesMaster1.xml" Id="Re100204d1fe84c8a" /><Relationship Type="http://schemas.openxmlformats.org/officeDocument/2006/relationships/presProps" Target="/ppt/presProps.xml" Id="Rf64f592d674f40ea" /><Relationship Type="http://schemas.openxmlformats.org/officeDocument/2006/relationships/tableStyles" Target="/ppt/tableStyles.xml" Id="Rdbec17024e074cda" /><Relationship Type="http://schemas.openxmlformats.org/officeDocument/2006/relationships/slide" Target="/ppt/slides/slide1.xml" Id="R855a1ff4862841d5" /><Relationship Type="http://schemas.openxmlformats.org/officeDocument/2006/relationships/slide" Target="/ppt/slides/slide2.xml" Id="R19e6923bdc7f47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5743a161a946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fcb4a0ac6e41ab" /><Relationship Type="http://schemas.openxmlformats.org/officeDocument/2006/relationships/notesMaster" Target="/ppt/notesMasters/notesMaster1.xml" Id="R3e4e6242f2814e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7f704d0604323" /><Relationship Type="http://schemas.openxmlformats.org/officeDocument/2006/relationships/notesMaster" Target="/ppt/notesMasters/notesMaster1.xml" Id="R3c05e0a4719b43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Sheet: PA Infra Master, tab “MORE THAN 1000”, range A1:G1001. Table content reproduced from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Sheet: PA Infra Master, tab “less than 100”, range A1:G1001. The tab title reads “less than 100”, while its visible heading states less than 1,000. Table content reproduced from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f5f9cd2d240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95997495134bf7" /><Relationship Type="http://schemas.openxmlformats.org/officeDocument/2006/relationships/slideLayout" Target="/ppt/slideLayouts/slideLayout1.xml" Id="Rdf82b14b986047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82b14b986047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cc22a55be4b06" /><Relationship Type="http://schemas.openxmlformats.org/officeDocument/2006/relationships/notesSlide" Target="/ppt/notesSlides/notesSlide1.xml" Id="R95bb16a8245245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7c2bc1d074af3" /><Relationship Type="http://schemas.openxmlformats.org/officeDocument/2006/relationships/notesSlide" Target="/ppt/notesSlides/notesSlide2.xml" Id="R4ca9e732f8b34d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369C7-BFC9-4A9B-B193-855545E7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150"/>
            <a:ext cx="1744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Details of LIFTS for FOB over SBC Division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2874D-F861-4FE0-9520-81F31E6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1744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Source tab: MORE THAN 1000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82146-8E9A-4D5A-AC79-CB3E8283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Rows 1–22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8BABB-3C77-494C-83E2-9CFDE243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9525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Rows 23–43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19100" y="1181100"/>
          <a:ext xmlns:a="http://schemas.openxmlformats.org/drawingml/2006/main" cx="8572500" cy="8743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33400"/>
                <a:gridCol w="876300"/>
                <a:gridCol w="704850"/>
                <a:gridCol w="1047750"/>
                <a:gridCol w="5410200"/>
              </a:tblGrid>
              <a:tr h="38017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Sl No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Station Code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Footfall / Day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SBC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196600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Lift available at PF-1 &amp; PF-8, 3 WIP (PF-5/6, PF-9/10, PF-10 Metro Entry side)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SMVB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32560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 lifts (Concourse, PF-2/3, PF-4/5, PF-6/7)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YPR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61202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Redevelopment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BNC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8267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Redevelopment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BWT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24676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KGI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20189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KJM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35001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YNK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10872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lifts available at PF-1, 4/5, one lift for PF-2/3 Proposed)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CRLM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3222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 2 lifts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HSRA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8484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lifts available &amp; ABSS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HUP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8173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MYA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19070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RMGM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10492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lifts available &amp; ABSS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SSPN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3340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Lift Available at PF-1 &amp; PF-2/3; ABSS Station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TK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19779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lifts available &amp; ABSS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WFD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9733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BAND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2305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Doubling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BAW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4175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 3 lifts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BID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4202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 2 lifts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BNCE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5727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Quadrupling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BYPL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5270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Quadrupling</a:t>
                      </a:r>
                    </a:p>
                  </a:txBody>
                  <a:tcPr marL="28575" marR="28575" marT="0" marB="0" anchor="ctr" horzOverflow="clip"/>
                </a:tc>
              </a:tr>
              <a:tr h="3801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CNPA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1215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 2 lifts</a:t>
                      </a:r>
                    </a:p>
                  </a:txBody>
                  <a:tcPr marL="28575" marR="28575" marT="0" marB="0" anchor="ctr" horzOverflow="clip"/>
                </a:tc>
              </a:tr>
            </a:tbl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9296400" y="1181100"/>
          <a:ext xmlns:a="http://schemas.openxmlformats.org/drawingml/2006/main" cx="8572500" cy="8743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33400"/>
                <a:gridCol w="876300"/>
                <a:gridCol w="704850"/>
                <a:gridCol w="1047750"/>
                <a:gridCol w="5410200"/>
              </a:tblGrid>
              <a:tr h="39745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Sl No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Station Code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Footfall / Day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CPT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12882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lifts available &amp; ABSS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DBU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4256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DPJ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3454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lifts available &amp; ABSS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GBD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4749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 2 lifts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KPN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9702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lifts available &amp; ABSS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MAD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6606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 2 lifts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MKM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6043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Single line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MLO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14164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NYH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1307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 3 lifts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OGM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5765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Single line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PKD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1819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TCL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3858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 2 lifts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CBP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1274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CHU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2400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Single line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2796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Single line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DKN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2063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GDP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1498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HEB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1022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Doubling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HLE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1200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Ramp available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KIAT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1172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 2 lifts</a:t>
                      </a:r>
                    </a:p>
                  </a:txBody>
                  <a:tcPr marL="28575" marR="28575" marT="0" marB="0" anchor="ctr" horzOverflow="clip"/>
                </a:tc>
              </a:tr>
              <a:tr h="3974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NDV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1062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 lift sanctioned for Circulating area &amp; ramp/stairs available at PF-1 &amp; PF-2/3</a:t>
                      </a:r>
                    </a:p>
                  </a:txBody>
                  <a:tcPr marL="28575" marR="28575" marT="0" marB="0" anchor="ctr" horzOverflow="clip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565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CAB42-2A66-400D-A35D-6E2BCCC9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150"/>
            <a:ext cx="1744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Details of lifts for stations with foot falls less than 1000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7F12D-4B90-418E-92CC-F02D6CF7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1744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Source tab: less than 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A8D60-41F7-4E3C-8E9E-50303FC9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Rows 1–26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DBBF4-1E03-4EC4-9282-E4D96C71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9525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Rows 27–52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19100" y="1181100"/>
          <a:ext xmlns:a="http://schemas.openxmlformats.org/drawingml/2006/main" cx="8572500" cy="8743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"/>
                <a:gridCol w="742950"/>
                <a:gridCol w="2905125"/>
                <a:gridCol w="904875"/>
                <a:gridCol w="742950"/>
                <a:gridCol w="1447800"/>
                <a:gridCol w="1428750"/>
              </a:tblGrid>
              <a:tr h="3238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Sl.no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Station code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STATION NAME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Categorisation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 per day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Lifts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KIGL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KUNIGAL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731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MWM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Malleswaram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664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AEK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Anekal Road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835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doubling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BGNR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B.G.NAGAR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649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BSM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Bisanattam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529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BSPL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Basampalle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CMY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CHINTAMANI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488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CSDR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Channasandra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DHL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Devanahalli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253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DPE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DEVARAPALLI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137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DSVS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D.SAMUDRAVALLI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GBB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Gubbi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948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Sanctioned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GHL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GolLAhalli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863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HHL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Hirehalli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578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HISE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HIRISAVE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202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HJL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Hejjala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116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HNK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Hanakere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275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IDT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Sidlagatta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373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KMLM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Kelamangalam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189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KQZ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Kolar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386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KVLR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Karuvalli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167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LOGH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LOTTEGOLLAHALLI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416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Mulanur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530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MKJ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Makkajipalli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MKL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MakalidurgA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MLSA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Mallasandra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257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</a:tbl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9296400" y="1181100"/>
          <a:ext xmlns:a="http://schemas.openxmlformats.org/drawingml/2006/main" cx="8572500" cy="8743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"/>
                <a:gridCol w="742950"/>
                <a:gridCol w="2905125"/>
                <a:gridCol w="904875"/>
                <a:gridCol w="742950"/>
                <a:gridCol w="1447800"/>
                <a:gridCol w="1428750"/>
              </a:tblGrid>
              <a:tr h="3238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Sl.no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Station code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STATION NAME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Categorisation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 per day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Lifts</a:t>
                      </a:r>
                    </a:p>
                  </a:txBody>
                  <a:tcPr marL="28575" marR="28575" marT="0" marB="0" anchor="ctr" horzOverflow="clip">
                    <a:solidFill>
                      <a:srgbClr val="D9EA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MLU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Malugur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MZU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Marandahalli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329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NGM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Nagasamudram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NMGA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NELAMANGALA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282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NRYP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Narayanapura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NTR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Nittur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331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ORH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Oddarahalli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170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PCV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Palakkodu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833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PRNT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PERIYANAGATHUNAI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PU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Patchur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243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REPI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RANGEPALLI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RNN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Rajankunti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379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RYC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Rayakkottai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321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SBGA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SHRAVANABELAGOLA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616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ABSS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Settihalli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SIGA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SHANTIGRAMA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43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SKPT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Somanayakkanpatti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114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SOLR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SOLUR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SPGR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Sampige Road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196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SVS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SRINIVASAPURA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391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SZV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Sivadi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TASA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THIPPASANDRA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TDV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Thondebhavi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617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TPP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Toppur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284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Yeliyur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197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8575" marR="28575" marT="0" marB="0" anchor="ctr" horzOverflow="clip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YY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YEDIYURU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NSG-6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347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28575" marR="28575" marT="0" marB="0" anchor="ctr" horzOverflow="clip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28575" marR="28575" marT="0" marB="0" anchor="ctr" horzOverflow="clip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745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2026-07-28T07:48:39.0190000Z</dcterms:created>
  <dcterms:modified xsi:type="dcterms:W3CDTF">2026-07-28T07:48:39.0190000Z</dcterms:modified>
</coreProperties>
</file>